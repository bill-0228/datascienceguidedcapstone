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7" roundtripDataSignature="AMtx7mjdo7FECp685JsX7/4pIVeoAktj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A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 txBox="1">
            <a:spLocks noGrp="1"/>
          </p:cNvSpPr>
          <p:nvPr>
            <p:ph type="sldNum" idx="12"/>
          </p:nvPr>
        </p:nvSpPr>
        <p:spPr>
          <a:xfrm>
            <a:off x="6042320" y="9493393"/>
            <a:ext cx="169918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lang="en-AU" sz="1800" b="0" i="0" u="none" strike="noStrike" cap="none">
                <a:solidFill>
                  <a:srgbClr val="000000"/>
                </a:solidFill>
              </a:rPr>
              <a:t>1</a:t>
            </a:fld>
            <a:endParaRPr sz="1800" b="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17" name="Google Shape;1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319338" y="1265238"/>
            <a:ext cx="11201401" cy="8401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" name="Google Shape;18;p1:notes"/>
          <p:cNvSpPr txBox="1">
            <a:spLocks noGrp="1"/>
          </p:cNvSpPr>
          <p:nvPr>
            <p:ph type="body" idx="1"/>
          </p:nvPr>
        </p:nvSpPr>
        <p:spPr>
          <a:xfrm>
            <a:off x="789535" y="605318"/>
            <a:ext cx="547079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AU" b="1"/>
              <a:t>Hypothesis: </a:t>
            </a:r>
            <a:r>
              <a:rPr lang="en-AU" sz="12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a Hypothesis with an emphasis on SMART principles. </a:t>
            </a:r>
            <a:r>
              <a:rPr lang="en-AU" sz="12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AU" sz="1200" b="1" i="1"/>
              <a:t>S – Specific, M – Measurable, A – Achievable, R – Realistic, T – Timebound). </a:t>
            </a:r>
            <a:r>
              <a:rPr lang="en-AU" sz="1200" b="0" i="0"/>
              <a:t>If you cannot do this, you </a:t>
            </a:r>
            <a:r>
              <a:rPr lang="en-AU" sz="1200" b="1" i="0"/>
              <a:t>do not</a:t>
            </a:r>
            <a:r>
              <a:rPr lang="en-AU" sz="1200" b="0" i="0"/>
              <a:t> have a good grasp on the business problem.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AU" b="1"/>
              <a:t>Context: </a:t>
            </a:r>
            <a:r>
              <a:rPr lang="en-AU" sz="1200"/>
              <a:t>With context, we have </a:t>
            </a:r>
            <a:r>
              <a:rPr lang="en-AU" sz="1200" b="1" u="sng"/>
              <a:t>clearly identified the problem at hand </a:t>
            </a:r>
            <a:r>
              <a:rPr lang="en-AU" sz="1200"/>
              <a:t>and have elucidated on how our initiative may solve this problem, alongside the commercial implications this will have on the business.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b="1"/>
              <a:t>Criteria for Success</a:t>
            </a:r>
            <a:r>
              <a:rPr lang="en-AU" b="0"/>
              <a:t>: Clearly defining the criteria for success ensures that the scope of your work is clearly defined and understood. Otherwise, if this isn’t defined – your work will never end which will result in mismatched expectations.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b="1"/>
              <a:t>Scope of Solution Space: </a:t>
            </a:r>
            <a:r>
              <a:rPr lang="en-AU" b="0"/>
              <a:t>Scoping out the solution space ensures that the business initiative is SPECIFIC for a certain segment or area. This prevents solutions that have been developed being scaled and applied for all other business units that the solution may not be responsible or scalable for.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b="1"/>
              <a:t>Constraints within Solution Space: </a:t>
            </a:r>
            <a:r>
              <a:rPr lang="en-AU" b="0"/>
              <a:t>Looking forward, what are the foreseeable problems we are likely to encounter? Could this be stakeholder resistance? Could this be we don’t have access to the right data?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b="1"/>
              <a:t>Stakeholders to provide key insight: </a:t>
            </a:r>
            <a:r>
              <a:rPr lang="en-AU" b="0"/>
              <a:t>Who are the people I need to speak to, to get the answers I need for my data analysis?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b="1"/>
              <a:t>What key data sources are required</a:t>
            </a:r>
            <a:r>
              <a:rPr lang="en-AU" b="0"/>
              <a:t>?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b="0"/>
              <a:t>Based off my discussions with the key stakeholders – can we clearly list out all the data sources we need so we can make a highly targeted request as opposed to a scatter-gun approach where we ask for a bit of everything?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1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74945" y="234863"/>
            <a:ext cx="8794113" cy="29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298444" y="37255"/>
            <a:ext cx="670614" cy="12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6"/>
              <a:buFont typeface="Arial"/>
              <a:buNone/>
            </a:pPr>
            <a:endParaRPr sz="81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2343099" y="2570857"/>
            <a:ext cx="4389768" cy="125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81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40"/>
              <a:buFont typeface="Arial"/>
              <a:buChar char="▪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293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58"/>
              <a:buFont typeface="Arial"/>
              <a:buChar char="–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293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58"/>
              <a:buFont typeface="Arial"/>
              <a:buChar char="▫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080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80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080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080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080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174945" y="234863"/>
            <a:ext cx="8794113" cy="29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"/>
          <p:cNvSpPr/>
          <p:nvPr/>
        </p:nvSpPr>
        <p:spPr>
          <a:xfrm>
            <a:off x="137949" y="1576013"/>
            <a:ext cx="4344156" cy="4681063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endParaRPr sz="142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87388" y="1576013"/>
            <a:ext cx="4344156" cy="4681063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endParaRPr sz="142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218936" y="1618127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spcFirstLastPara="1" wrap="square" lIns="47575" tIns="47575" rIns="47575" bIns="47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28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668375" y="1618127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spcFirstLastPara="1" wrap="square" lIns="47575" tIns="47575" rIns="47575" bIns="47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01195" y="1650181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050634" y="1650181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Constraints within solution space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668375" y="3207096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spcFirstLastPara="1" wrap="square" lIns="47575" tIns="47575" rIns="47575" bIns="47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218936" y="3207096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spcFirstLastPara="1" wrap="square" lIns="47575" tIns="47575" rIns="47575" bIns="47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01195" y="3239152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Criteria for success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5050634" y="3239152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Stakeholders to provide key insight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218936" y="4797685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spcFirstLastPara="1" wrap="square" lIns="47575" tIns="47575" rIns="47575" bIns="47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4668375" y="4797685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spcFirstLastPara="1" wrap="square" lIns="47575" tIns="47575" rIns="47575" bIns="47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601195" y="4831972"/>
            <a:ext cx="3597454" cy="219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Scope of solution space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5050634" y="4829741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>
                <a:solidFill>
                  <a:schemeClr val="dk1"/>
                </a:solidFill>
              </a:rPr>
              <a:t>Key</a:t>
            </a:r>
            <a:r>
              <a:rPr lang="en-AU" sz="142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data sources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143108" y="1964976"/>
            <a:ext cx="4324418" cy="1245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1100" dirty="0"/>
              <a:t>Big Mountain Resort is a ski resort with 105 trails and over 350,000 yearly visitors. The resort recently added a new chair lift, increasing costs by $1.54 million. Its current strategy prices tickets above market average, but management believes this may not fully reflect the value of its facilities. A new data science team has been hired to create a more data-driven pricing strategy and evaluate ways to improve profitability.</a:t>
            </a:r>
            <a:endParaRPr dirty="0"/>
          </a:p>
        </p:txBody>
      </p:sp>
      <p:sp>
        <p:nvSpPr>
          <p:cNvPr id="35" name="Google Shape;35;p1"/>
          <p:cNvSpPr txBox="1"/>
          <p:nvPr/>
        </p:nvSpPr>
        <p:spPr>
          <a:xfrm>
            <a:off x="143108" y="3538874"/>
            <a:ext cx="4324418" cy="141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1100" dirty="0"/>
              <a:t>The goal is for Big Mountain Resort to fully capitalize on its facilities, set a better ticket price, reduce costs without lowering ticket value, and maximize profitability. The new changes should be implemented before next ski season.</a:t>
            </a:r>
            <a:endParaRPr sz="1071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"/>
          <p:cNvSpPr txBox="1"/>
          <p:nvPr/>
        </p:nvSpPr>
        <p:spPr>
          <a:xfrm>
            <a:off x="186842" y="5184805"/>
            <a:ext cx="4324418" cy="751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1100" dirty="0"/>
              <a:t>By comparing data from similar ski resorts, Big Mountain Resort can determine whether ticket prices can be increased without losing customers.</a:t>
            </a:r>
          </a:p>
          <a:p>
            <a:pPr lvl="0"/>
            <a:r>
              <a:rPr lang="en-US" sz="1050" dirty="0"/>
              <a:t>Use data analysis to understand which facilities and services provide the most value to customers and justify higher ticket prices.</a:t>
            </a:r>
            <a:endParaRPr sz="10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"/>
          <p:cNvSpPr txBox="1"/>
          <p:nvPr/>
        </p:nvSpPr>
        <p:spPr>
          <a:xfrm>
            <a:off x="4558232" y="1963919"/>
            <a:ext cx="4324418" cy="1081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1100" dirty="0"/>
              <a:t>Raising ticket prices may lead to losing customers, while cutting costs could reduce service quality and overall customer satisfaction.</a:t>
            </a:r>
            <a:endParaRPr sz="107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4647804" y="5114977"/>
            <a:ext cx="4324418" cy="1081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AU" sz="1070" dirty="0"/>
              <a:t>A CSV file from database manager.</a:t>
            </a:r>
            <a:endParaRPr sz="107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6633337" y="6524418"/>
            <a:ext cx="432048" cy="205317"/>
          </a:xfrm>
          <a:prstGeom prst="chevron">
            <a:avLst>
              <a:gd name="adj" fmla="val 50000"/>
            </a:avLst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AU" sz="12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7028512" y="6513711"/>
            <a:ext cx="432048" cy="216024"/>
          </a:xfrm>
          <a:prstGeom prst="chevron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AU" sz="12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7452320" y="6503004"/>
            <a:ext cx="432048" cy="216024"/>
          </a:xfrm>
          <a:prstGeom prst="chevron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AU" sz="12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7846662" y="6508081"/>
            <a:ext cx="432048" cy="216024"/>
          </a:xfrm>
          <a:prstGeom prst="chevron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AU" sz="12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8245692" y="6503004"/>
            <a:ext cx="432048" cy="216024"/>
          </a:xfrm>
          <a:prstGeom prst="chevron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AU" sz="12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8099130" y="707128"/>
            <a:ext cx="432048" cy="205317"/>
          </a:xfrm>
          <a:prstGeom prst="chevron">
            <a:avLst>
              <a:gd name="adj" fmla="val 50000"/>
            </a:avLst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AU" sz="12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121750" y="116631"/>
            <a:ext cx="7724912" cy="1137079"/>
          </a:xfrm>
          <a:prstGeom prst="wedgeRectCallout">
            <a:avLst>
              <a:gd name="adj1" fmla="val 53513"/>
              <a:gd name="adj2" fmla="val 6588"/>
            </a:avLst>
          </a:prstGeom>
          <a:solidFill>
            <a:srgbClr val="FEF2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"/>
          <p:cNvSpPr txBox="1">
            <a:spLocks noGrp="1"/>
          </p:cNvSpPr>
          <p:nvPr>
            <p:ph type="title"/>
          </p:nvPr>
        </p:nvSpPr>
        <p:spPr>
          <a:xfrm>
            <a:off x="184140" y="189590"/>
            <a:ext cx="879359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sz="2000">
                <a:solidFill>
                  <a:srgbClr val="2974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Problem Statement Worksheet (Hypothesis Formation)</a:t>
            </a:r>
            <a:endParaRPr/>
          </a:p>
        </p:txBody>
      </p:sp>
      <p:sp>
        <p:nvSpPr>
          <p:cNvPr id="47" name="Google Shape;47;p1"/>
          <p:cNvSpPr txBox="1"/>
          <p:nvPr/>
        </p:nvSpPr>
        <p:spPr>
          <a:xfrm>
            <a:off x="4580938" y="3553682"/>
            <a:ext cx="4324418" cy="1081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071"/>
            </a:lvl1pPr>
          </a:lstStyle>
          <a:p>
            <a:r>
              <a:rPr lang="en-AU" dirty="0"/>
              <a:t>Jimmy Blackburn, Director of Operations</a:t>
            </a:r>
          </a:p>
          <a:p>
            <a:r>
              <a:rPr lang="en-US" dirty="0"/>
              <a:t>Alesha Eisen, Database Manager.</a:t>
            </a:r>
            <a:endParaRPr dirty="0"/>
          </a:p>
        </p:txBody>
      </p:sp>
      <p:sp>
        <p:nvSpPr>
          <p:cNvPr id="48" name="Google Shape;48;p1"/>
          <p:cNvSpPr txBox="1"/>
          <p:nvPr/>
        </p:nvSpPr>
        <p:spPr>
          <a:xfrm>
            <a:off x="184140" y="540901"/>
            <a:ext cx="858464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AU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&lt;What is the business problem </a:t>
            </a:r>
            <a:r>
              <a:rPr lang="en-AU" b="1"/>
              <a:t>you</a:t>
            </a:r>
            <a:r>
              <a:rPr lang="en-AU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are investigating? (Use SMART principles)&gt;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nergy_CF_YNR002">
  <a:themeElements>
    <a:clrScheme name="Current">
      <a:dk1>
        <a:srgbClr val="002C46"/>
      </a:dk1>
      <a:lt1>
        <a:srgbClr val="FFFFFF"/>
      </a:lt1>
      <a:dk2>
        <a:srgbClr val="FBC14E"/>
      </a:dk2>
      <a:lt2>
        <a:srgbClr val="879C16"/>
      </a:lt2>
      <a:accent1>
        <a:srgbClr val="99AABE"/>
      </a:accent1>
      <a:accent2>
        <a:srgbClr val="406085"/>
      </a:accent2>
      <a:accent3>
        <a:srgbClr val="002C46"/>
      </a:accent3>
      <a:accent4>
        <a:srgbClr val="FBC14E"/>
      </a:accent4>
      <a:accent5>
        <a:srgbClr val="379BBD"/>
      </a:accent5>
      <a:accent6>
        <a:srgbClr val="808080"/>
      </a:accent6>
      <a:hlink>
        <a:srgbClr val="002C46"/>
      </a:hlink>
      <a:folHlink>
        <a:srgbClr val="FBC1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552</Words>
  <Application>Microsoft Office PowerPoint</Application>
  <PresentationFormat>On-screen Show (4:3)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Quattrocento Sans</vt:lpstr>
      <vt:lpstr>Synergy_CF_YNR002</vt:lpstr>
      <vt:lpstr>Problem Statement Worksheet (Hypothesis Formation)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Christopher H</dc:creator>
  <cp:lastModifiedBy>yun jiang</cp:lastModifiedBy>
  <cp:revision>2</cp:revision>
  <dcterms:modified xsi:type="dcterms:W3CDTF">2026-05-14T06:13:00Z</dcterms:modified>
</cp:coreProperties>
</file>