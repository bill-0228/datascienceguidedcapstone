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90234-E05F-7666-31D4-B39A9BADE1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FE2BDA-4077-FEDF-1CE0-B466DA69E0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25FD08-FD20-52F2-584A-CD75AEC847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3B272-B4C0-43C9-97EE-6A0542C15B1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E490F4-FB6D-6456-60CE-38D6323571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6E75F7-44B0-E34E-E1B8-B14738E72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8195B-B9DD-4AD4-9778-5098BA3D71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4331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11D5F-8968-2F20-7B31-4556F503C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BEB406-B002-7EC2-61B0-958CFB4D4A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B93B39-F0B5-C582-7AEE-8C59152D7B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3B272-B4C0-43C9-97EE-6A0542C15B1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5EF008-024E-276E-FFC2-E27D9B8C0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3FFF1E-FF12-29E0-2B3E-1892D01DE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8195B-B9DD-4AD4-9778-5098BA3D71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1927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5E0F5-4A9B-D993-4EA4-C77844A43A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E86524-A3B8-919B-8F43-8C4F9F93EC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B6A927-DA99-12D4-0DDD-8F3BF60A9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3B272-B4C0-43C9-97EE-6A0542C15B1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22CA99-1134-3B95-DED5-22003BD1B1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0D5690-7574-214F-FE5E-264812203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8195B-B9DD-4AD4-9778-5098BA3D71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6330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DFE68-A976-698D-8CED-8EB425DA08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4B0F2F-65B6-FDB6-0D86-5B35EACE30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DBD9E0-2919-477A-9CB4-167A3516F3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0C551B-073D-F88A-B976-136619FC9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3B272-B4C0-43C9-97EE-6A0542C15B1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E46B75-0954-BD65-E588-C52679ADB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314D7C-31C6-B1EA-7544-166C70823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8195B-B9DD-4AD4-9778-5098BA3D71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7808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155269-A839-647E-AF5A-B57B7CC85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5F964A-C2B1-D0BB-8CBA-185DC2B5B2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CC2AD4-C001-183A-144B-971C8AB700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1CE6BA-1124-2E17-86B9-6A09A54DCE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820A99-950A-0038-F21E-016CFF2222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A01DDE-FA34-77EB-9FE1-69408DB5E6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3B272-B4C0-43C9-97EE-6A0542C15B1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F07762B-2C5E-0247-FDA9-C1F824A19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82AD2E1-F10A-3B4E-5597-5F253F85C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8195B-B9DD-4AD4-9778-5098BA3D71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589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93CA4-EAB1-EFB4-7F93-C38CEAB6C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5DE4EF-6E35-E7BA-1F9F-68CE44C6AA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3B272-B4C0-43C9-97EE-6A0542C15B1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61E0AE-7DA0-8841-4866-546787A1B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E5472C-4428-405C-31F1-8D1D85005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8195B-B9DD-4AD4-9778-5098BA3D71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3195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294FE1-DE00-1A07-0B41-3CE26FCE0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3B272-B4C0-43C9-97EE-6A0542C15B1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903AA75-E78B-BDD2-AEDD-E29BC2B9C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18FA87-7A92-9204-4E8D-2C5D75445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8195B-B9DD-4AD4-9778-5098BA3D71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3893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2D25B-D8BE-0C85-5BF8-26FEC94C2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4E9B8F-528D-E492-2055-F9FBEBCBDA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ED0FF5-4D15-1ED9-7A15-F094B7077A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75BE45-1850-7CA3-B939-74E8882E9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3B272-B4C0-43C9-97EE-6A0542C15B1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1DE737-F19A-D682-6393-ECDA339ED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6A61D9-17F8-8518-BFF7-FDAD7B0FA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8195B-B9DD-4AD4-9778-5098BA3D71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284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E8C3CB-671F-0939-9D89-4B53AD80BA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DD81B34-FE31-0999-296F-E9BA307B6C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261DEB-3557-9220-7E8C-3BE4434918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393DF3-325C-DFBB-DC54-AEE51EDE5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3B272-B4C0-43C9-97EE-6A0542C15B1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74E4C7-9869-57CF-A0E0-DC41FFAF1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B25000-81AE-A57F-498A-D4C499305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8195B-B9DD-4AD4-9778-5098BA3D71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2704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120238-4344-84A0-CE58-91C518D82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F15DD9-C504-4CFB-2D3C-50B8483F0B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F12178-9E65-9EBA-1FF5-D76044B4C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3B272-B4C0-43C9-97EE-6A0542C15B1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FC49DF-E93A-7013-5F0C-AB394821B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AC5A37-48EA-7A3E-4189-72A9769C2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8195B-B9DD-4AD4-9778-5098BA3D71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3972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E0066B2-9EC4-F127-31DF-2CCCA91F75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C834FF-783F-48EB-FC79-32E538AA75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77871F-3051-FAE2-A48D-B8A04CC80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3B272-B4C0-43C9-97EE-6A0542C15B1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4B8055-4E48-8F61-9CEA-A47954751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E0DC4F-0542-A331-5643-719CD2C72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8195B-B9DD-4AD4-9778-5098BA3D71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1872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616134E-35D1-BC7B-A434-9C05514CB0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82CA28-E22B-1FC3-2377-B1DFDE17CE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ED9447-A15B-AD90-D9BB-080E218DC6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C3B272-B4C0-43C9-97EE-6A0542C15B1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53FA98-87AC-7BF5-B2F4-9FE9E22FB9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4CF6CE-EC2A-3E1D-A1B7-AFFC1E026F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18195B-B9DD-4AD4-9778-5098BA3D71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9435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E22DB-AA51-526E-3294-BB29C80696B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Big Mountain Resort </a:t>
            </a:r>
            <a:br>
              <a:rPr lang="en-US" dirty="0"/>
            </a:br>
            <a:r>
              <a:rPr lang="en-US" dirty="0"/>
              <a:t>Pricing Strategy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EA695D-0186-23D5-29C9-EB043AC6FA9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759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EB76A9-0996-8786-C2E6-53AE72940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Problem identification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AED21-6132-0F00-E276-1E8271ABF1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Big Mountain Resort suspects it may be underpricing its offerings relative to comparable resorts. This project develops a predictive model that estimates ticket prices using resort facilities and characteristics, helping management identify the features that most influence pricing and make informed decisions about pricing and future investments.</a:t>
            </a:r>
          </a:p>
        </p:txBody>
      </p:sp>
    </p:spTree>
    <p:extLst>
      <p:ext uri="{BB962C8B-B14F-4D97-AF65-F5344CB8AC3E}">
        <p14:creationId xmlns:p14="http://schemas.microsoft.com/office/powerpoint/2010/main" val="14935342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FA3F8-194F-6FFF-35A2-D6F8E0210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Recommendation and key findings 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A0C8FE-4BB7-ABD2-410C-854A7EAC50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b="1" dirty="0"/>
              <a:t>Key Findings</a:t>
            </a:r>
          </a:p>
          <a:p>
            <a:pPr lvl="1"/>
            <a:r>
              <a:rPr lang="en-US" sz="1800" dirty="0"/>
              <a:t>Big Mountain Resort appears to be </a:t>
            </a:r>
            <a:r>
              <a:rPr lang="en-US" sz="1800" b="1" dirty="0"/>
              <a:t>underpriced relative to comparable resorts</a:t>
            </a:r>
            <a:r>
              <a:rPr lang="en-US" sz="1800" dirty="0"/>
              <a:t> with similar facilities. </a:t>
            </a:r>
          </a:p>
          <a:p>
            <a:pPr lvl="1"/>
            <a:r>
              <a:rPr lang="en-US" sz="1800" dirty="0"/>
              <a:t>The machine learning model identified several features that have the strongest relationship with ticket prices, including: </a:t>
            </a:r>
          </a:p>
          <a:p>
            <a:pPr lvl="2"/>
            <a:r>
              <a:rPr lang="en-US" sz="1400" dirty="0"/>
              <a:t>Number of runs </a:t>
            </a:r>
          </a:p>
          <a:p>
            <a:pPr lvl="2"/>
            <a:r>
              <a:rPr lang="en-US" sz="1400" dirty="0"/>
              <a:t>Vertical drop </a:t>
            </a:r>
          </a:p>
          <a:p>
            <a:pPr lvl="2"/>
            <a:r>
              <a:rPr lang="en-US" sz="1400" dirty="0"/>
              <a:t>Lift capacity/chair lifts </a:t>
            </a:r>
          </a:p>
          <a:p>
            <a:pPr lvl="2"/>
            <a:r>
              <a:rPr lang="en-US" sz="1400" dirty="0"/>
              <a:t>Terrain-related features </a:t>
            </a:r>
          </a:p>
          <a:p>
            <a:r>
              <a:rPr lang="en-US" sz="2000" dirty="0"/>
              <a:t>The model provides a data-driven framework for evaluating pricing and investment decisions. </a:t>
            </a:r>
          </a:p>
          <a:p>
            <a:r>
              <a:rPr lang="en-US" sz="2000" b="1" dirty="0"/>
              <a:t>Recommendations</a:t>
            </a:r>
          </a:p>
          <a:p>
            <a:pPr lvl="1"/>
            <a:r>
              <a:rPr lang="en-US" sz="1800" dirty="0"/>
              <a:t>Consider a gradual ticket price increase while monitoring demand and customer satisfaction. </a:t>
            </a:r>
          </a:p>
          <a:p>
            <a:pPr lvl="1"/>
            <a:r>
              <a:rPr lang="en-US" sz="1800" dirty="0"/>
              <a:t>Further evaluate infrastructure investments that increase resort capacity and skier experience. </a:t>
            </a:r>
          </a:p>
          <a:p>
            <a:pPr lvl="1"/>
            <a:r>
              <a:rPr lang="en-US" sz="1800" dirty="0"/>
              <a:t>Use the model to support future pricing and capital expenditure decisions.</a:t>
            </a:r>
          </a:p>
        </p:txBody>
      </p:sp>
    </p:spTree>
    <p:extLst>
      <p:ext uri="{BB962C8B-B14F-4D97-AF65-F5344CB8AC3E}">
        <p14:creationId xmlns:p14="http://schemas.microsoft.com/office/powerpoint/2010/main" val="5213560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60A53-5B52-142B-860F-030E638A6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Modeling Results – Baseline vs. Predictive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3FC5D7-DB52-E7AD-15FF-806C5F8409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Baseline Model</a:t>
            </a:r>
          </a:p>
          <a:p>
            <a:pPr lvl="1"/>
            <a:r>
              <a:rPr lang="en-US" dirty="0"/>
              <a:t>Initial benchmark used the average ticket price across resorts. </a:t>
            </a:r>
          </a:p>
          <a:p>
            <a:pPr lvl="1"/>
            <a:r>
              <a:rPr lang="en-US" dirty="0"/>
              <a:t>Provided a simple reference point for evaluating model performance. </a:t>
            </a:r>
          </a:p>
          <a:p>
            <a:r>
              <a:rPr lang="en-US" b="1" dirty="0"/>
              <a:t>Predictive Model</a:t>
            </a:r>
          </a:p>
          <a:p>
            <a:pPr lvl="1"/>
            <a:r>
              <a:rPr lang="en-US" dirty="0"/>
              <a:t>Developed a linear regression model using resort characteristics. </a:t>
            </a:r>
          </a:p>
          <a:p>
            <a:pPr lvl="1"/>
            <a:r>
              <a:rPr lang="en-US" dirty="0"/>
              <a:t>Feature selection identified the most important predictors of ticket price. </a:t>
            </a:r>
          </a:p>
          <a:p>
            <a:pPr lvl="1"/>
            <a:r>
              <a:rPr lang="en-US" dirty="0"/>
              <a:t>Cross-validation was used to evaluate model performance and reduce overfitting risk. </a:t>
            </a:r>
          </a:p>
          <a:p>
            <a:r>
              <a:rPr lang="en-US" b="1" dirty="0"/>
              <a:t>Result</a:t>
            </a:r>
          </a:p>
          <a:p>
            <a:pPr lvl="1"/>
            <a:r>
              <a:rPr lang="en-US" dirty="0"/>
              <a:t>The predictive model substantially improved upon the baseline estimate. </a:t>
            </a:r>
          </a:p>
          <a:p>
            <a:pPr lvl="1"/>
            <a:r>
              <a:rPr lang="en-US" dirty="0"/>
              <a:t>Generated more realistic ticket price estimates based on resort facilities.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55503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1C537-1046-194F-46BA-A6867A58CE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/>
              <a:t>Modeling Results – Key Drivers of Ticket Price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BBCF09-896C-A7D6-1C59-38076AB10C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Most Influential Features</a:t>
            </a:r>
          </a:p>
          <a:p>
            <a:pPr lvl="1"/>
            <a:r>
              <a:rPr lang="en-US" dirty="0"/>
              <a:t>Number of runs </a:t>
            </a:r>
          </a:p>
          <a:p>
            <a:pPr lvl="1"/>
            <a:r>
              <a:rPr lang="en-US" dirty="0"/>
              <a:t>Vertical drop </a:t>
            </a:r>
          </a:p>
          <a:p>
            <a:pPr lvl="1"/>
            <a:r>
              <a:rPr lang="en-US" dirty="0"/>
              <a:t>Lift infrastructure </a:t>
            </a:r>
          </a:p>
          <a:p>
            <a:pPr lvl="1"/>
            <a:r>
              <a:rPr lang="en-US" dirty="0"/>
              <a:t>Terrain characteristics </a:t>
            </a:r>
          </a:p>
          <a:p>
            <a:r>
              <a:rPr lang="en-US" b="1" dirty="0"/>
              <a:t>Interpretation</a:t>
            </a:r>
          </a:p>
          <a:p>
            <a:pPr lvl="1"/>
            <a:r>
              <a:rPr lang="en-US" dirty="0"/>
              <a:t>Resorts with larger terrain and greater ski capacity generally command higher prices. </a:t>
            </a:r>
          </a:p>
          <a:p>
            <a:pPr lvl="1"/>
            <a:r>
              <a:rPr lang="en-US" dirty="0"/>
              <a:t>Additional infrastructure tends to support higher ticket prices. </a:t>
            </a:r>
          </a:p>
          <a:p>
            <a:pPr lvl="1"/>
            <a:r>
              <a:rPr lang="en-US" dirty="0"/>
              <a:t>Not all improvements generate equal pricing power. </a:t>
            </a:r>
          </a:p>
          <a:p>
            <a:r>
              <a:rPr lang="en-US" b="1" dirty="0"/>
              <a:t>Business Value</a:t>
            </a:r>
          </a:p>
          <a:p>
            <a:pPr lvl="1"/>
            <a:r>
              <a:rPr lang="en-US" dirty="0"/>
              <a:t>Identifies which investments are most likely to increase revenue potential.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81931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4C4CAF-5295-86DC-B32D-B74B234E6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Scenario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ED2326-FA3F-83A1-FD97-61E0453E5E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Scenario 1: New Chair Lift + Additional Run + Increased Vertical Drop</a:t>
            </a:r>
          </a:p>
          <a:p>
            <a:pPr lvl="1"/>
            <a:r>
              <a:rPr lang="en-US" dirty="0"/>
              <a:t>Supported ticket price increase: </a:t>
            </a:r>
            <a:r>
              <a:rPr lang="en-US" b="1" dirty="0"/>
              <a:t>$1.99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Estimated seasonal revenue increase: </a:t>
            </a:r>
            <a:r>
              <a:rPr lang="en-US" b="1" dirty="0"/>
              <a:t>~$3.47 million</a:t>
            </a:r>
            <a:r>
              <a:rPr lang="en-US" dirty="0"/>
              <a:t> </a:t>
            </a:r>
          </a:p>
          <a:p>
            <a:r>
              <a:rPr lang="en-US" b="1" dirty="0"/>
              <a:t>Scenario 2: Longer Run + Additional Snowmaking</a:t>
            </a:r>
          </a:p>
          <a:p>
            <a:pPr lvl="1"/>
            <a:r>
              <a:rPr lang="en-US" dirty="0"/>
              <a:t>Predicted ticket price increase: </a:t>
            </a:r>
            <a:r>
              <a:rPr lang="en-US" b="1" dirty="0"/>
              <a:t>$0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Limited impact on pricing power according to the model. </a:t>
            </a:r>
          </a:p>
          <a:p>
            <a:r>
              <a:rPr lang="en-US" b="1" dirty="0"/>
              <a:t>Recommendation</a:t>
            </a:r>
          </a:p>
          <a:p>
            <a:pPr lvl="1"/>
            <a:r>
              <a:rPr lang="en-US" dirty="0"/>
              <a:t>Chair lift and terrain expansion warrant further investigation. </a:t>
            </a:r>
          </a:p>
          <a:p>
            <a:pPr lvl="1"/>
            <a:r>
              <a:rPr lang="en-US" dirty="0"/>
              <a:t>Snowmaking and longest-run improvements should be lower priority from a pricing perspective.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28660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044F1-232F-97DD-9265-4DBA066155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Business Implications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B460D3-E96C-4A71-6C40-CB6BE4594D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Pricing Strategy</a:t>
            </a:r>
          </a:p>
          <a:p>
            <a:pPr lvl="1"/>
            <a:r>
              <a:rPr lang="en-US" dirty="0"/>
              <a:t>Big Mountain may be able to increase prices while remaining competitive. </a:t>
            </a:r>
          </a:p>
          <a:p>
            <a:pPr lvl="1"/>
            <a:r>
              <a:rPr lang="en-US" dirty="0"/>
              <a:t>Gradual implementation and testing are recommended. </a:t>
            </a:r>
          </a:p>
          <a:p>
            <a:r>
              <a:rPr lang="en-US" b="1" dirty="0"/>
              <a:t>Operational Strategy</a:t>
            </a:r>
          </a:p>
          <a:p>
            <a:pPr lvl="1"/>
            <a:r>
              <a:rPr lang="en-US" dirty="0"/>
              <a:t>Use scenario modeling to evaluate future investments. </a:t>
            </a:r>
          </a:p>
          <a:p>
            <a:pPr lvl="1"/>
            <a:r>
              <a:rPr lang="en-US" dirty="0"/>
              <a:t>Test temporary run closures before considering permanent reductions. </a:t>
            </a:r>
          </a:p>
          <a:p>
            <a:r>
              <a:rPr lang="en-US" b="1" dirty="0"/>
              <a:t>Future Improvements</a:t>
            </a:r>
          </a:p>
          <a:p>
            <a:pPr lvl="1"/>
            <a:r>
              <a:rPr lang="en-US" dirty="0"/>
              <a:t>Incorporate: </a:t>
            </a:r>
          </a:p>
          <a:p>
            <a:pPr lvl="2"/>
            <a:r>
              <a:rPr lang="en-US" dirty="0"/>
              <a:t>Operating costs </a:t>
            </a:r>
          </a:p>
          <a:p>
            <a:pPr lvl="2"/>
            <a:r>
              <a:rPr lang="en-US" dirty="0"/>
              <a:t>Maintenance expenses </a:t>
            </a:r>
          </a:p>
          <a:p>
            <a:pPr lvl="2"/>
            <a:r>
              <a:rPr lang="en-US" dirty="0"/>
              <a:t>Labor costs </a:t>
            </a:r>
          </a:p>
          <a:p>
            <a:pPr lvl="2"/>
            <a:r>
              <a:rPr lang="en-US" dirty="0"/>
              <a:t>Capital investment costs </a:t>
            </a:r>
          </a:p>
          <a:p>
            <a:pPr lvl="2"/>
            <a:r>
              <a:rPr lang="en-US" dirty="0"/>
              <a:t>Visitor demand data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2138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DD2726-2E59-BA41-93B0-5B4BB64B5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Summary &amp; 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3990FD-5201-626A-8007-CE8D8A35D8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Summary</a:t>
            </a:r>
          </a:p>
          <a:p>
            <a:pPr lvl="1"/>
            <a:r>
              <a:rPr lang="en-US" dirty="0"/>
              <a:t>Developed a machine learning model to estimate ski resort ticket prices. </a:t>
            </a:r>
          </a:p>
          <a:p>
            <a:pPr lvl="1"/>
            <a:r>
              <a:rPr lang="en-US" dirty="0"/>
              <a:t>Identified the resort characteristics most associated with higher ticket prices. </a:t>
            </a:r>
          </a:p>
          <a:p>
            <a:pPr lvl="1"/>
            <a:r>
              <a:rPr lang="en-US" dirty="0"/>
              <a:t>Evaluated investment and pricing scenarios using model predictions. </a:t>
            </a:r>
          </a:p>
          <a:p>
            <a:r>
              <a:rPr lang="en-US" b="1" dirty="0"/>
              <a:t>Conclusion</a:t>
            </a:r>
          </a:p>
          <a:p>
            <a:pPr lvl="1"/>
            <a:r>
              <a:rPr lang="en-US" dirty="0"/>
              <a:t>Big Mountain appears positioned to support higher ticket prices than it currently charges. </a:t>
            </a:r>
          </a:p>
          <a:p>
            <a:pPr lvl="1"/>
            <a:r>
              <a:rPr lang="en-US" dirty="0"/>
              <a:t>The chair lift expansion scenario showed the strongest revenue potential. </a:t>
            </a:r>
          </a:p>
          <a:p>
            <a:pPr lvl="1"/>
            <a:r>
              <a:rPr lang="en-US" dirty="0"/>
              <a:t>The model can serve as a decision-support tool for pricing and investment planning. </a:t>
            </a:r>
          </a:p>
          <a:p>
            <a:r>
              <a:rPr lang="en-US" b="1" dirty="0"/>
              <a:t>Next Steps</a:t>
            </a:r>
          </a:p>
          <a:p>
            <a:pPr lvl="1"/>
            <a:r>
              <a:rPr lang="en-US" dirty="0"/>
              <a:t>Validate recommendations through business testing. </a:t>
            </a:r>
          </a:p>
          <a:p>
            <a:pPr lvl="1"/>
            <a:r>
              <a:rPr lang="en-US" dirty="0"/>
              <a:t>Expand the model with cost and demand data. </a:t>
            </a:r>
          </a:p>
          <a:p>
            <a:pPr lvl="1"/>
            <a:r>
              <a:rPr lang="en-US" dirty="0"/>
              <a:t>Deploy the model through a dashboard for business analysts and management.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68208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551</Words>
  <Application>Microsoft Office PowerPoint</Application>
  <PresentationFormat>Widescreen</PresentationFormat>
  <Paragraphs>76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Big Mountain Resort  Pricing Strategy</vt:lpstr>
      <vt:lpstr>Problem identification</vt:lpstr>
      <vt:lpstr>Recommendation and key findings </vt:lpstr>
      <vt:lpstr>Modeling Results – Baseline vs. Predictive Model</vt:lpstr>
      <vt:lpstr>Modeling Results – Key Drivers of Ticket Price</vt:lpstr>
      <vt:lpstr>Scenario Analysis</vt:lpstr>
      <vt:lpstr>Business Implications</vt:lpstr>
      <vt:lpstr>Summary &amp; 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yun jiang</dc:creator>
  <cp:lastModifiedBy>yun jiang</cp:lastModifiedBy>
  <cp:revision>1</cp:revision>
  <dcterms:created xsi:type="dcterms:W3CDTF">2026-06-10T06:33:15Z</dcterms:created>
  <dcterms:modified xsi:type="dcterms:W3CDTF">2026-06-10T07:00:49Z</dcterms:modified>
</cp:coreProperties>
</file>